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1CC058-F777-416A-9CC0-A8FF3FC7628C}" v="12" dt="2026-05-26T19:11:43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00020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800020"/>
                </a:solidFill>
                <a:latin typeface="Arial"/>
              </a:rPr>
              <a:t>Você usaria este app?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Aceitação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00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E06-4CDF-8A03-22AA3EDD9F66}"/>
              </c:ext>
            </c:extLst>
          </c:dPt>
          <c:dPt>
            <c:idx val="1"/>
            <c:bubble3D val="0"/>
            <c:spPr>
              <a:solidFill>
                <a:srgbClr val="C47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06-4CDF-8A03-22AA3EDD9F66}"/>
              </c:ext>
            </c:extLst>
          </c:dPt>
          <c:dPt>
            <c:idx val="2"/>
            <c:bubble3D val="0"/>
            <c:spPr>
              <a:solidFill>
                <a:srgbClr val="F5E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06-4CDF-8A03-22AA3EDD9F6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E06-4CDF-8A03-22AA3EDD9F6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E06-4CDF-8A03-22AA3EDD9F6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06-4CDF-8A03-22AA3EDD9F6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 certeza, adorei a ideia!</c:v>
                </c:pt>
                <c:pt idx="1">
                  <c:v>Talvez usasse.</c:v>
                </c:pt>
                <c:pt idx="2">
                  <c:v>Não utilizaria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87.5</c:v>
                </c:pt>
                <c:pt idx="1">
                  <c:v>12.5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06-4CDF-8A03-22AA3EDD9F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DF5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00020"/>
                </a:solidFill>
                <a:latin typeface="Arial"/>
              </a:defRPr>
            </a:pPr>
            <a:r>
              <a:rPr lang="pt-BR" sz="1100" b="0" i="0" u="none" strike="noStrike">
                <a:solidFill>
                  <a:srgbClr val="800020"/>
                </a:solidFill>
                <a:latin typeface="Arial"/>
              </a:rPr>
              <a:t>O que mais chamaria sua atenção para ler?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respondentes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DC-48DA-BA39-21B5CD835C6C}"/>
              </c:ext>
            </c:extLst>
          </c:dPt>
          <c:dPt>
            <c:idx val="1"/>
            <c:invertIfNegative val="0"/>
            <c:bubble3D val="0"/>
            <c:spPr>
              <a:solidFill>
                <a:srgbClr val="9A35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DC-48DA-BA39-21B5CD835C6C}"/>
              </c:ext>
            </c:extLst>
          </c:dPt>
          <c:dPt>
            <c:idx val="2"/>
            <c:invertIfNegative val="0"/>
            <c:bubble3D val="0"/>
            <c:spPr>
              <a:solidFill>
                <a:srgbClr val="C47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DC-48DA-BA39-21B5CD835C6C}"/>
              </c:ext>
            </c:extLst>
          </c:dPt>
          <c:dPt>
            <c:idx val="3"/>
            <c:invertIfNegative val="0"/>
            <c:bubble3D val="0"/>
            <c:spPr>
              <a:solidFill>
                <a:srgbClr val="F5E8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DC-48DA-BA39-21B5CD835C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0A0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Segredos que não
vêm nos livros</c:v>
                </c:pt>
                <c:pt idx="1">
                  <c:v>A história de quem
inventou o prato</c:v>
                </c:pt>
                <c:pt idx="2">
                  <c:v>Lembranças
de infância</c:v>
                </c:pt>
                <c:pt idx="3">
                  <c:v>Receita pura
e direta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76.5</c:v>
                </c:pt>
                <c:pt idx="1">
                  <c:v>41.2</c:v>
                </c:pt>
                <c:pt idx="2">
                  <c:v>17.600000000000001</c:v>
                </c:pt>
                <c:pt idx="3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9DC-48DA-BA39-21B5CD835C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5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DF5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3557C-8E8C-4619-B2E0-A0EC448070BE}" type="datetimeFigureOut"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11CF1-D9F4-411F-9068-859EC9D4291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619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14B6-6154-04D1-64C6-815CACDB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76325-17C8-F4A5-9483-FAD4F9AA0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CCDB7-F0BF-3F43-33FA-674B7F8BB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8E96A-64E0-FF4D-4B90-28CDDEE41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27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114800" cy="4114800"/>
          </a:xfrm>
          <a:prstGeom prst="ellipse">
            <a:avLst/>
          </a:prstGeom>
          <a:solidFill>
            <a:srgbClr val="800020">
              <a:alpha val="60000"/>
            </a:srgbClr>
          </a:solidFill>
          <a:ln w="12700">
            <a:solidFill>
              <a:srgbClr val="800020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800020">
              <a:alpha val="45000"/>
            </a:srgbClr>
          </a:solidFill>
          <a:ln w="12700">
            <a:solidFill>
              <a:srgbClr val="800020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474720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RECEITAS DA NONA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Tecnologia e afeto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preservação da</a:t>
            </a:r>
            <a:endParaRPr lang="en-US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culinária familiar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50292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046720" cy="1417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1100" b="1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Disciplina</a:t>
            </a:r>
            <a:r>
              <a:rPr lang="en-US" sz="1100" b="1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Programação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Dispositivos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Móveis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em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Android
</a:t>
            </a:r>
            <a:r>
              <a:rPr lang="en-US" sz="1100" b="1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Equipe: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Danilly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Emilly · Ingrid Santana · Isabela Santana · Maria Clara Freire · </a:t>
            </a:r>
            <a:r>
              <a:rPr lang="en-US" sz="1100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Sóstenes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 Magno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100" b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Professor: </a:t>
            </a:r>
            <a:r>
              <a:rPr lang="en-US" sz="110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Davi Camara</a:t>
            </a:r>
            <a:r>
              <a:rPr lang="en-US" sz="1100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
</a:t>
            </a:r>
          </a:p>
        </p:txBody>
      </p:sp>
      <p:pic>
        <p:nvPicPr>
          <p:cNvPr id="9" name="Imagem 8" descr="preencoded.png">
            <a:extLst>
              <a:ext uri="{FF2B5EF4-FFF2-40B4-BE49-F238E27FC236}">
                <a16:creationId xmlns:a16="http://schemas.microsoft.com/office/drawing/2014/main" id="{9449EA2C-A33B-C9BC-FB59-0DE2012F9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170" y="1656901"/>
            <a:ext cx="923925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estamos perdendo?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548640"/>
            <a:ext cx="2926080" cy="2926080"/>
          </a:xfrm>
          <a:prstGeom prst="ellipse">
            <a:avLst/>
          </a:prstGeom>
          <a:solidFill>
            <a:srgbClr val="F5E8E8"/>
          </a:solidFill>
          <a:ln w="25400">
            <a:solidFill>
              <a:srgbClr val="800020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486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800020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0000" dirty="0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1179576"/>
            <a:ext cx="4919472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Receitas passadas de geração em geração se perdem com o tempo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2002536"/>
            <a:ext cx="4919472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👵  Idosos guardam segredos culinários que não estão escritos em lugar nenhum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2825496"/>
            <a:ext cx="4919472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 culinária familiar é parte da identidade cultural de um povo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120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648456"/>
            <a:ext cx="4919472" cy="58521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Não existe um espaço digital feito para esse tipo de memória afetiva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E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Fundamentação Teórica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comida como suporte da memória social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38328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114800" cy="73152"/>
          </a:xfrm>
          <a:prstGeom prst="rect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8132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Maurice Halbwachs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18745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Coletiva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memória individual só existe dentro de um contexto social.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2724912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Lembranças são ancoradas em grupos — família, comunidade, cultura.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325526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suporte social, a memória se fragmenta e desaparece.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4114800" cy="338328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4114800" cy="73152"/>
          </a:xfrm>
          <a:prstGeom prst="rect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481328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Comida &amp; Memória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10912" y="18745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USP, Cadernos CERU (1993)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10912" y="2194560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Alimentos são vetores privilegiados da memória coletiva.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10912" y="2724912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cheiro e o sabor ativam lembranças com mais intensidade do que a palavra escrita.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10912" y="3255264"/>
            <a:ext cx="3785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de família são documentos vivos da identidade cultural.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da Nona — uma rede social de culinária afetiva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9144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aplicativo mobile onde receitas de família viram memórias compartilhadas — com história, afeto e identidade.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Publicar Receitas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receitas com foto, história e segredos que não estão nos livros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78608" y="233172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78608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❤️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70048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Curtir &amp; Salvar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coleção pessoal de memórias culinárias favoritas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233172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54296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45736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Explorar &amp; Buscar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Descubra receitas por ingrediente, autor ou nome do prato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9984" y="2331720"/>
            <a:ext cx="1920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9984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21424" y="29443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Familiar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21424" y="3337560"/>
            <a:ext cx="17373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espaço de identidade culinária, com histórico de publicações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via pesquisa de mercado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188720"/>
            <a:ext cx="822960" cy="8229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1600200"/>
            <a:ext cx="548640" cy="0"/>
          </a:xfrm>
          <a:prstGeom prst="line">
            <a:avLst/>
          </a:prstGeom>
          <a:noFill/>
          <a:ln w="1905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Problema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da perda de receitas familiares no contexto digital atual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1188720"/>
            <a:ext cx="822960" cy="8229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78224" y="1600200"/>
            <a:ext cx="548640" cy="0"/>
          </a:xfrm>
          <a:prstGeom prst="line">
            <a:avLst/>
          </a:prstGeom>
          <a:noFill/>
          <a:ln w="19050">
            <a:solidFill>
              <a:srgbClr val="800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518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60904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Elaboração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Questionário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06624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com 7 perguntas sobre hábitos culinários e receptividade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21808" y="1188720"/>
            <a:ext cx="822960" cy="8229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36208" y="1600200"/>
            <a:ext cx="548640" cy="0"/>
          </a:xfrm>
          <a:prstGeom prst="line">
            <a:avLst/>
          </a:prstGeom>
          <a:noFill/>
          <a:ln w="19050">
            <a:solidFill>
              <a:srgbClr val="800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Aplicação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Pesquisa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respondentes de diferentes faixas etárias e perfis familiares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79792" y="1188720"/>
            <a:ext cx="822960" cy="82296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188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31152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381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76872" y="22402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Dados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2592" y="2880360"/>
            <a:ext cx="173736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 indicadores que validaram a proposta e guiaram o design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Aceitação &amp; Memória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revelaram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2560320"/>
          </a:xfrm>
          <a:prstGeom prst="ellipse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87,5%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respondentes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usariam o app</a:t>
            </a:r>
            <a:endParaRPr lang="en-US" sz="10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46120" y="1005840"/>
          <a:ext cx="3200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583680" y="1097280"/>
            <a:ext cx="2377440" cy="2560320"/>
          </a:xfrm>
          <a:prstGeom prst="rect">
            <a:avLst/>
          </a:prstGeom>
          <a:solidFill>
            <a:srgbClr val="4E0707"/>
          </a:solidFill>
          <a:ln w="12700">
            <a:solidFill>
              <a:srgbClr val="4E070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75120" y="123444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94,1%
</a:t>
            </a:r>
            <a:endParaRPr lang="en-US" sz="24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receitas
de família que
gostaria de
guardar
</a:t>
            </a:r>
            <a:r>
              <a:rPr lang="en-US" sz="900" dirty="0">
                <a:solidFill>
                  <a:srgbClr val="E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(58,8% disse: </a:t>
            </a:r>
            <a:r>
              <a:rPr lang="en-US" sz="900" b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"sim, várias!"</a:t>
            </a:r>
            <a:r>
              <a:rPr lang="en-US" sz="900" dirty="0">
                <a:solidFill>
                  <a:srgbClr val="E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O que o Usuário Quer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foto e dos ingredientes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143000"/>
          <a:ext cx="54864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143000"/>
            <a:ext cx="2651760" cy="105156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263640" y="118872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263640" y="16824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ver segredos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culinários exclusivos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37744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263640" y="242316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52,9%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263640" y="29169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menu simples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navegação fácil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361188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36576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76,5%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63640" y="4151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cozinha regular ou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ocasionalmente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E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Tecnológica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híbrido focado em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33472" cy="35204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33472" cy="64008"/>
          </a:xfrm>
          <a:prstGeom prst="rect">
            <a:avLst/>
          </a:prstGeom>
          <a:solidFill>
            <a:srgbClr val="3880FF"/>
          </a:solidFill>
          <a:ln w="12700">
            <a:solidFill>
              <a:srgbClr val="388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Ionic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híbrido multiplataforma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77977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nativos de alta performance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52958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base de código para iOS e Android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1325880"/>
            <a:ext cx="2633472" cy="35204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325880"/>
            <a:ext cx="2633472" cy="64008"/>
          </a:xfrm>
          <a:prstGeom prst="rect">
            <a:avLst/>
          </a:prstGeom>
          <a:solidFill>
            <a:srgbClr val="DD0031"/>
          </a:solidFill>
          <a:ln w="12700">
            <a:solidFill>
              <a:srgbClr val="DD00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4630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🅰  Angular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47288" y="202996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front-end robusto e tipado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47288" y="277977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baseada em componentes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47288" y="352958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data binding para UX fluida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325880"/>
            <a:ext cx="2633472" cy="35204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63056" y="1325880"/>
            <a:ext cx="2633472" cy="6400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463040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🔷  TypeScript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202996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estática para menos erros em produção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0216" y="2779776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legibilidade e manutenibilidade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00216" y="3529584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nativa com Angular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as a Service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como infraestrutura completa do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334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2633472" cy="5029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2618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Firebase Auth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e-mail e senha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560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segura JWT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3246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sessão do usuário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6334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234440"/>
            <a:ext cx="2633472" cy="502920"/>
          </a:xfrm>
          <a:prstGeom prst="rect">
            <a:avLst/>
          </a:prstGeom>
          <a:solidFill>
            <a:srgbClr val="5B2333"/>
          </a:solidFill>
          <a:ln w="12700">
            <a:solidFill>
              <a:srgbClr val="5B2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2618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 Firestore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65576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NoSQL em tempo real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5576" y="2560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de receitas, perfis e curtidas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65576" y="3246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automática entre dispositivos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234440"/>
            <a:ext cx="2633472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E8E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1234440"/>
            <a:ext cx="2633472" cy="502920"/>
          </a:xfrm>
          <a:prstGeom prst="rect">
            <a:avLst/>
          </a:prstGeom>
          <a:solidFill>
            <a:srgbClr val="7A2030"/>
          </a:solidFill>
          <a:ln w="12700">
            <a:solidFill>
              <a:srgbClr val="7A2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261872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🖼️  Cloud Storage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1850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fotos das receitas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18504" y="25603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seguro e escalável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32461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públicas para exibição no feed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solidFill>
            <a:srgbClr val="F5E8E8"/>
          </a:solidFill>
          <a:ln w="12700">
            <a:solidFill>
              <a:srgbClr val="F5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Firebase elimina a necessidade de um servidor próprio, acelerando o desenvolvimento e reduzindo custos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E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e Emulação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Trazendo o app à realidade técnica com Android Studio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920240" cy="32918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36192"/>
            <a:ext cx="822960" cy="822960"/>
          </a:xfrm>
          <a:prstGeom prst="ellipse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45059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Ionic/Angular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17520"/>
            <a:ext cx="1700784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app em TypeScript com componentes Ionic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920240"/>
            <a:ext cx="164592" cy="0"/>
          </a:xfrm>
          <a:prstGeom prst="line">
            <a:avLst/>
          </a:prstGeom>
          <a:noFill/>
          <a:ln w="25400">
            <a:solidFill>
              <a:srgbClr val="E8A0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1417320"/>
            <a:ext cx="1920240" cy="32918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536192"/>
            <a:ext cx="822960" cy="822960"/>
          </a:xfrm>
          <a:prstGeom prst="ellipse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245059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Capacitor Build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24912" y="3017520"/>
            <a:ext cx="1700784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 do código web para projeto nativo Android (.apk)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920240"/>
            <a:ext cx="164592" cy="0"/>
          </a:xfrm>
          <a:prstGeom prst="line">
            <a:avLst/>
          </a:prstGeom>
          <a:noFill/>
          <a:ln w="25400">
            <a:solidFill>
              <a:srgbClr val="E8A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1417320"/>
            <a:ext cx="1920240" cy="32918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21808" y="1536192"/>
            <a:ext cx="822960" cy="822960"/>
          </a:xfrm>
          <a:prstGeom prst="ellipse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82896" y="245059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2896" y="3017520"/>
            <a:ext cx="1700784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do projeto, configuração do SDK e AVD Manager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1920240"/>
            <a:ext cx="164592" cy="0"/>
          </a:xfrm>
          <a:prstGeom prst="line">
            <a:avLst/>
          </a:prstGeom>
          <a:noFill/>
          <a:ln w="25400">
            <a:solidFill>
              <a:srgbClr val="E8A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1152" y="1417320"/>
            <a:ext cx="1920240" cy="3291840"/>
          </a:xfrm>
          <a:prstGeom prst="rect">
            <a:avLst/>
          </a:prstGeom>
          <a:solidFill>
            <a:srgbClr val="800020"/>
          </a:solidFill>
          <a:ln w="12700">
            <a:solidFill>
              <a:srgbClr val="000000"/>
            </a:solidFill>
            <a:prstDash val="solid"/>
          </a:ln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79792" y="1536192"/>
            <a:ext cx="822960" cy="822960"/>
          </a:xfrm>
          <a:prstGeom prst="ellipse">
            <a:avLst/>
          </a:prstGeom>
          <a:solidFill>
            <a:srgbClr val="E8A0A0"/>
          </a:solidFill>
          <a:ln w="12700">
            <a:solidFill>
              <a:srgbClr val="E8A0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1536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245059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Emulador AVD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0" y="3017520"/>
            <a:ext cx="1700784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em ambiente virtualizado simulando dispositivo real Android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6E962-8C7F-5959-2447-5435DC0BE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0">
            <a:extLst>
              <a:ext uri="{FF2B5EF4-FFF2-40B4-BE49-F238E27FC236}">
                <a16:creationId xmlns:a16="http://schemas.microsoft.com/office/drawing/2014/main" id="{12265DD2-3A2B-1A33-9F18-27322E930988}"/>
              </a:ext>
            </a:extLst>
          </p:cNvPr>
          <p:cNvSpPr/>
          <p:nvPr/>
        </p:nvSpPr>
        <p:spPr>
          <a:xfrm>
            <a:off x="5208693" y="1305179"/>
            <a:ext cx="2907792" cy="308762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FB728A84-F35E-FFB2-7F70-5F2897E36D09}"/>
              </a:ext>
            </a:extLst>
          </p:cNvPr>
          <p:cNvSpPr/>
          <p:nvPr/>
        </p:nvSpPr>
        <p:spPr>
          <a:xfrm>
            <a:off x="502920" y="1255776"/>
            <a:ext cx="2907792" cy="308762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07B5729-D20C-619E-EAAA-435035F9DBF5}"/>
              </a:ext>
            </a:extLst>
          </p:cNvPr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CE37C9-15B0-9306-254F-FBB1DBBF6DF1}"/>
              </a:ext>
            </a:extLst>
          </p:cNvPr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F3CAB3-6814-EB30-114A-926842AC1C63}"/>
              </a:ext>
            </a:extLst>
          </p:cNvPr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App na Prática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580D9E-068A-A0D3-104F-B1C362FE1512}"/>
              </a:ext>
            </a:extLst>
          </p:cNvPr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 aplicativo funcionando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46B4ECE-508B-4D80-8936-957B309354B4}"/>
              </a:ext>
            </a:extLst>
          </p:cNvPr>
          <p:cNvSpPr/>
          <p:nvPr/>
        </p:nvSpPr>
        <p:spPr>
          <a:xfrm>
            <a:off x="502920" y="4343400"/>
            <a:ext cx="2907792" cy="256032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88BEB9E-A9EB-72DD-B457-A2D2F18B9DBE}"/>
              </a:ext>
            </a:extLst>
          </p:cNvPr>
          <p:cNvSpPr/>
          <p:nvPr/>
        </p:nvSpPr>
        <p:spPr>
          <a:xfrm>
            <a:off x="927650" y="433531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</a:t>
            </a:r>
            <a:endParaRPr lang="en-US" sz="950" dirty="0"/>
          </a:p>
        </p:txBody>
      </p:sp>
      <p:pic>
        <p:nvPicPr>
          <p:cNvPr id="11" name="Image 1" descr="/home/claude/app4.jpeg">
            <a:extLst>
              <a:ext uri="{FF2B5EF4-FFF2-40B4-BE49-F238E27FC236}">
                <a16:creationId xmlns:a16="http://schemas.microsoft.com/office/drawing/2014/main" id="{CA658D02-54FB-2E2D-8196-E9593912D0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33736" y="1365546"/>
            <a:ext cx="2457705" cy="296689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D81B5E97-BD34-8CA5-5672-B129E997D007}"/>
              </a:ext>
            </a:extLst>
          </p:cNvPr>
          <p:cNvSpPr/>
          <p:nvPr/>
        </p:nvSpPr>
        <p:spPr>
          <a:xfrm>
            <a:off x="5208693" y="4409527"/>
            <a:ext cx="2907792" cy="256032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CEE5BB7-A021-6BE8-85BE-CCEE10ECFE45}"/>
              </a:ext>
            </a:extLst>
          </p:cNvPr>
          <p:cNvSpPr/>
          <p:nvPr/>
        </p:nvSpPr>
        <p:spPr>
          <a:xfrm>
            <a:off x="5687568" y="4409527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</a:t>
            </a:r>
            <a:endParaRPr lang="en-US" sz="9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3D6AFFA4-517A-6A1E-750D-F12AA91B63F1}"/>
              </a:ext>
            </a:extLst>
          </p:cNvPr>
          <p:cNvSpPr/>
          <p:nvPr/>
        </p:nvSpPr>
        <p:spPr>
          <a:xfrm>
            <a:off x="5312325" y="45491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75408CD-E73D-81C4-03E0-FDD4A5E49B8E}"/>
              </a:ext>
            </a:extLst>
          </p:cNvPr>
          <p:cNvSpPr/>
          <p:nvPr/>
        </p:nvSpPr>
        <p:spPr>
          <a:xfrm>
            <a:off x="6729984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9147AF22-015A-9AFB-10B0-6683CF9A5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69" y="1296028"/>
            <a:ext cx="2219537" cy="297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10">
            <a:extLst>
              <a:ext uri="{FF2B5EF4-FFF2-40B4-BE49-F238E27FC236}">
                <a16:creationId xmlns:a16="http://schemas.microsoft.com/office/drawing/2014/main" id="{D848C318-E476-5710-FA68-7CE11A2A4D8F}"/>
              </a:ext>
            </a:extLst>
          </p:cNvPr>
          <p:cNvSpPr/>
          <p:nvPr/>
        </p:nvSpPr>
        <p:spPr>
          <a:xfrm>
            <a:off x="5074581" y="1207008"/>
            <a:ext cx="2907792" cy="308762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" name="Shape 0"/>
          <p:cNvSpPr/>
          <p:nvPr/>
        </p:nvSpPr>
        <p:spPr>
          <a:xfrm>
            <a:off x="320040" y="228600"/>
            <a:ext cx="64008" cy="41148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0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App na Prática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 aplicativo funcionando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87168" y="46451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932688" y="1187196"/>
            <a:ext cx="2907792" cy="3087624"/>
          </a:xfrm>
          <a:prstGeom prst="rect">
            <a:avLst/>
          </a:prstGeom>
          <a:solidFill>
            <a:srgbClr val="2A0A0A"/>
          </a:solidFill>
          <a:ln w="12700">
            <a:solidFill>
              <a:srgbClr val="2A0A0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pic>
        <p:nvPicPr>
          <p:cNvPr id="15" name="Image 2" descr="/home/claude/app2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54577" y="1290895"/>
            <a:ext cx="2373796" cy="294870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32688" y="4291972"/>
            <a:ext cx="2907792" cy="256032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2"/>
          <p:cNvSpPr/>
          <p:nvPr/>
        </p:nvSpPr>
        <p:spPr>
          <a:xfrm>
            <a:off x="1420877" y="4306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074581" y="4306824"/>
            <a:ext cx="2907792" cy="256032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1" name="Text 15"/>
          <p:cNvSpPr/>
          <p:nvPr/>
        </p:nvSpPr>
        <p:spPr>
          <a:xfrm>
            <a:off x="5614077" y="42919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</a:t>
            </a:r>
            <a:endParaRPr lang="en-US" sz="950" dirty="0"/>
          </a:p>
        </p:txBody>
      </p:sp>
      <p:pic>
        <p:nvPicPr>
          <p:cNvPr id="7" name="Image 0" descr="/home/claude/app1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74150" y="1290895"/>
            <a:ext cx="2122254" cy="27587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E070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00020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3657600" cy="3657600"/>
          </a:xfrm>
          <a:prstGeom prst="ellipse">
            <a:avLst/>
          </a:prstGeom>
          <a:solidFill>
            <a:srgbClr val="800020">
              <a:alpha val="50000"/>
            </a:srgbClr>
          </a:solidFill>
          <a:ln w="12700">
            <a:solidFill>
              <a:srgbClr val="80002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800020">
              <a:alpha val="40000"/>
            </a:srgbClr>
          </a:solidFill>
          <a:ln w="12700">
            <a:solidFill>
              <a:srgbClr val="80002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7315200" cy="56692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124712"/>
            <a:ext cx="7132320" cy="5120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🍲  Receitas de família são patrimônio cultural e afetivo — e podem ser preservadas digitalmente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566928"/>
          </a:xfrm>
          <a:prstGeom prst="rect">
            <a:avLst/>
          </a:prstGeom>
          <a:solidFill>
            <a:srgbClr val="800020">
              <a:alpha val="70000"/>
            </a:srgbClr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10512"/>
            <a:ext cx="7132320" cy="5120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O Receitas da Nona oferece um espaço genuíno para memória, história e pertencimento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7315200" cy="56692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96312"/>
            <a:ext cx="7132320" cy="5120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87,5% dos respondentes confirmaram interesse em usar o aplicativo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7315200" cy="566928"/>
          </a:xfrm>
          <a:prstGeom prst="rect">
            <a:avLst/>
          </a:prstGeom>
          <a:solidFill>
            <a:srgbClr val="800020">
              <a:alpha val="70000"/>
            </a:srgbClr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182112"/>
            <a:ext cx="7132320" cy="5120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 Ionic + Angular + Firebase formam uma stack eficiente, escalável e de baixo custo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7315200" cy="56692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867912"/>
            <a:ext cx="7132320" cy="51206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Android Studio permitiu validar o app em ambiente real antes da publicação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4617720"/>
            <a:ext cx="4572000" cy="0"/>
          </a:xfrm>
          <a:prstGeom prst="line">
            <a:avLst/>
          </a:prstGeom>
          <a:noFill/>
          <a:ln w="12700">
            <a:solidFill>
              <a:srgbClr val="E8A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690872"/>
            <a:ext cx="64008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Obrigado</a:t>
            </a:r>
            <a:r>
              <a:rPr lang="en-US" sz="1100" i="1" dirty="0">
                <a:solidFill>
                  <a:srgbClr val="E8D0D0"/>
                </a:solidFill>
                <a:latin typeface="Calibri"/>
                <a:ea typeface="Calibri"/>
                <a:cs typeface="Calibri"/>
              </a:rPr>
              <a:t>(a)!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754</Words>
  <Application>Microsoft Office PowerPoint</Application>
  <PresentationFormat>Apresentação na tela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Receitas da Nona</dc:title>
  <dc:subject>PptxGenJS Presentation</dc:subject>
  <dc:creator>Equipe Receitas da Nona</dc:creator>
  <cp:lastModifiedBy>Isabela Santana</cp:lastModifiedBy>
  <cp:revision>10</cp:revision>
  <dcterms:created xsi:type="dcterms:W3CDTF">2026-05-26T19:04:16Z</dcterms:created>
  <dcterms:modified xsi:type="dcterms:W3CDTF">2026-05-26T23:46:17Z</dcterms:modified>
</cp:coreProperties>
</file>